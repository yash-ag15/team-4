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AF905F-4484-76B5-1905-6E89CD673998}" v="140" dt="2026-08-17T05:10:26.2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Demo-first template grounded in internal Code for Change 3.0 materials.
[Sources]
- Code for Change 3.0 Student FAQ and event model: turn1search85, turn1search98
- Judges guidance to prefer a working live flow, reproducible evidence and honest limitations: turn1search93
- AI disclosure and ownership expectations: turn1search84, turn1search92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second slide for evidence, architecture, disclosure and honest limitations.
[Sources]
- Code for Change 3.0 judging guidance: turn1search93
- AI use disclosure, verification and technical ownership: turn1search84, turn1search92
- Event purpose and prototype expectation: turn1search4, turn1search5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FC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5B5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FOR CHANGE 3.0  |  5-MINUTE FINAL PITCH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46920" y="1828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DEMO FIRST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656539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all grey guidance text before presenting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49140" y="504945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919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Your solution in one clear story</a:t>
            </a:r>
            <a:endParaRPr lang="en-US" sz="28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90829" y="1536969"/>
            <a:ext cx="347472" cy="347472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10C801B2-8E11-11EE-7BD0-2E8B26ECAFFC}"/>
              </a:ext>
            </a:extLst>
          </p:cNvPr>
          <p:cNvGrpSpPr/>
          <p:nvPr/>
        </p:nvGrpSpPr>
        <p:grpSpPr>
          <a:xfrm>
            <a:off x="1162229" y="1262649"/>
            <a:ext cx="2971800" cy="4553712"/>
            <a:chOff x="1162229" y="1262649"/>
            <a:chExt cx="2971800" cy="4553712"/>
          </a:xfrm>
        </p:grpSpPr>
        <p:sp>
          <p:nvSpPr>
            <p:cNvPr id="14" name="Shape 11"/>
            <p:cNvSpPr/>
            <p:nvPr/>
          </p:nvSpPr>
          <p:spPr>
            <a:xfrm>
              <a:off x="1162229" y="1262649"/>
              <a:ext cx="2971800" cy="4553712"/>
            </a:xfrm>
            <a:prstGeom prst="roundRect">
              <a:avLst>
                <a:gd name="adj" fmla="val 2462"/>
              </a:avLst>
            </a:prstGeom>
            <a:solidFill>
              <a:srgbClr val="FFFFFF"/>
            </a:solidFill>
            <a:ln w="12700">
              <a:solidFill>
                <a:srgbClr val="DBDBD6"/>
              </a:solidFill>
              <a:prstDash val="solid"/>
            </a:ln>
            <a:effectLst>
              <a:outerShdw blurRad="15240" dist="635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 12"/>
            <p:cNvSpPr/>
            <p:nvPr/>
          </p:nvSpPr>
          <p:spPr>
            <a:xfrm>
              <a:off x="1802309" y="1472961"/>
              <a:ext cx="19659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>
                  <a:solidFill>
                    <a:srgbClr val="191919"/>
                  </a:solidFill>
                </a:rPr>
                <a:t>OUR SOLUTION</a:t>
              </a:r>
              <a:endParaRPr lang="en-US" sz="1500"/>
            </a:p>
          </p:txBody>
        </p:sp>
        <p:sp>
          <p:nvSpPr>
            <p:cNvPr id="17" name="Text 13"/>
            <p:cNvSpPr/>
            <p:nvPr/>
          </p:nvSpPr>
          <p:spPr>
            <a:xfrm>
              <a:off x="1390829" y="1902729"/>
              <a:ext cx="246888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79F24"/>
                  </a:solidFill>
                </a:rPr>
                <a:t>[Solution name] makes it easy to…</a:t>
              </a:r>
              <a:endParaRPr lang="en-US" sz="1300" dirty="0"/>
            </a:p>
          </p:txBody>
        </p:sp>
        <p:sp>
          <p:nvSpPr>
            <p:cNvPr id="18" name="Text 14"/>
            <p:cNvSpPr/>
            <p:nvPr/>
          </p:nvSpPr>
          <p:spPr>
            <a:xfrm>
              <a:off x="1390829" y="2295921"/>
              <a:ext cx="2468880" cy="685800"/>
            </a:xfrm>
            <a:prstGeom prst="rect">
              <a:avLst/>
            </a:prstGeom>
            <a:noFill/>
            <a:ln/>
          </p:spPr>
          <p:txBody>
            <a:bodyPr wrap="square" lIns="1016" tIns="1016" rIns="1016" bIns="1016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500" i="1" dirty="0">
                  <a:solidFill>
                    <a:srgbClr val="8A8A8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[One-line value proposition. Focus on the user outcome, not the tech stack.]</a:t>
              </a:r>
              <a:endParaRPr lang="en-US" sz="1500" dirty="0"/>
            </a:p>
          </p:txBody>
        </p:sp>
        <p:sp>
          <p:nvSpPr>
            <p:cNvPr id="19" name="Text 15"/>
            <p:cNvSpPr/>
            <p:nvPr/>
          </p:nvSpPr>
          <p:spPr>
            <a:xfrm>
              <a:off x="1390829" y="3210321"/>
              <a:ext cx="9144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5B5B5B"/>
                  </a:solidFill>
                </a:rPr>
                <a:t>KEY FLOW</a:t>
              </a:r>
              <a:endParaRPr lang="en-US" sz="1100" dirty="0"/>
            </a:p>
          </p:txBody>
        </p:sp>
        <p:sp>
          <p:nvSpPr>
            <p:cNvPr id="20" name="Shape 16"/>
            <p:cNvSpPr/>
            <p:nvPr/>
          </p:nvSpPr>
          <p:spPr>
            <a:xfrm>
              <a:off x="1390829" y="3530361"/>
              <a:ext cx="2377440" cy="347472"/>
            </a:xfrm>
            <a:prstGeom prst="roundRect">
              <a:avLst>
                <a:gd name="adj" fmla="val 13158"/>
              </a:avLst>
            </a:prstGeom>
            <a:solidFill>
              <a:srgbClr val="F4F4F1"/>
            </a:solidFill>
            <a:ln w="12700">
              <a:solidFill>
                <a:srgbClr val="E0E0DC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 17"/>
            <p:cNvSpPr/>
            <p:nvPr/>
          </p:nvSpPr>
          <p:spPr>
            <a:xfrm>
              <a:off x="1518845" y="3621801"/>
              <a:ext cx="201168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91919"/>
                  </a:solidFill>
                </a:rPr>
                <a:t>1. User starts</a:t>
              </a:r>
              <a:endParaRPr lang="en-US" sz="1100" dirty="0"/>
            </a:p>
          </p:txBody>
        </p:sp>
        <p:sp>
          <p:nvSpPr>
            <p:cNvPr id="22" name="Shape 18"/>
            <p:cNvSpPr/>
            <p:nvPr/>
          </p:nvSpPr>
          <p:spPr>
            <a:xfrm>
              <a:off x="1390829" y="4033281"/>
              <a:ext cx="2377440" cy="347472"/>
            </a:xfrm>
            <a:prstGeom prst="roundRect">
              <a:avLst>
                <a:gd name="adj" fmla="val 13158"/>
              </a:avLst>
            </a:prstGeom>
            <a:solidFill>
              <a:srgbClr val="FFF3EE"/>
            </a:solidFill>
            <a:ln w="12700">
              <a:solidFill>
                <a:srgbClr val="F79F24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 19"/>
            <p:cNvSpPr/>
            <p:nvPr/>
          </p:nvSpPr>
          <p:spPr>
            <a:xfrm>
              <a:off x="1518845" y="4124721"/>
              <a:ext cx="201168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91919"/>
                  </a:solidFill>
                </a:rPr>
                <a:t>2. System helps</a:t>
              </a:r>
              <a:endParaRPr lang="en-US" sz="1100" dirty="0"/>
            </a:p>
          </p:txBody>
        </p:sp>
        <p:sp>
          <p:nvSpPr>
            <p:cNvPr id="24" name="Shape 20"/>
            <p:cNvSpPr/>
            <p:nvPr/>
          </p:nvSpPr>
          <p:spPr>
            <a:xfrm>
              <a:off x="1390829" y="4536201"/>
              <a:ext cx="2377440" cy="347472"/>
            </a:xfrm>
            <a:prstGeom prst="roundRect">
              <a:avLst>
                <a:gd name="adj" fmla="val 13158"/>
              </a:avLst>
            </a:prstGeom>
            <a:solidFill>
              <a:srgbClr val="F4F4F1"/>
            </a:solidFill>
            <a:ln w="12700">
              <a:solidFill>
                <a:srgbClr val="E0E0DC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 21"/>
            <p:cNvSpPr/>
            <p:nvPr/>
          </p:nvSpPr>
          <p:spPr>
            <a:xfrm>
              <a:off x="1518845" y="4627641"/>
              <a:ext cx="201168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91919"/>
                  </a:solidFill>
                </a:rPr>
                <a:t>3. NGO acts</a:t>
              </a:r>
              <a:endParaRPr lang="en-US" sz="1100" dirty="0"/>
            </a:p>
          </p:txBody>
        </p:sp>
        <p:sp>
          <p:nvSpPr>
            <p:cNvPr id="26" name="Text 22"/>
            <p:cNvSpPr/>
            <p:nvPr/>
          </p:nvSpPr>
          <p:spPr>
            <a:xfrm>
              <a:off x="1390829" y="5286009"/>
              <a:ext cx="233172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178A6B"/>
                  </a:solidFill>
                </a:rPr>
                <a:t>Say this in 25 seconds</a:t>
              </a:r>
              <a:endParaRPr lang="en-US" sz="1000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EA881AB5-5A75-34CA-0058-ADB483883F2E}"/>
              </a:ext>
            </a:extLst>
          </p:cNvPr>
          <p:cNvGrpSpPr/>
          <p:nvPr/>
        </p:nvGrpSpPr>
        <p:grpSpPr>
          <a:xfrm>
            <a:off x="5281304" y="1262649"/>
            <a:ext cx="4965192" cy="4553712"/>
            <a:chOff x="6784848" y="1298448"/>
            <a:chExt cx="4965192" cy="4553712"/>
          </a:xfrm>
        </p:grpSpPr>
        <p:sp>
          <p:nvSpPr>
            <p:cNvPr id="27" name="Shape 23"/>
            <p:cNvSpPr/>
            <p:nvPr/>
          </p:nvSpPr>
          <p:spPr>
            <a:xfrm>
              <a:off x="6784848" y="1298448"/>
              <a:ext cx="4965192" cy="4553712"/>
            </a:xfrm>
            <a:prstGeom prst="roundRect">
              <a:avLst>
                <a:gd name="adj" fmla="val 1606"/>
              </a:avLst>
            </a:prstGeom>
            <a:solidFill>
              <a:srgbClr val="191919"/>
            </a:solidFill>
            <a:ln w="12700">
              <a:solidFill>
                <a:srgbClr val="191919"/>
              </a:solidFill>
              <a:prstDash val="solid"/>
            </a:ln>
            <a:effectLst>
              <a:outerShdw blurRad="17780" dist="8890" dir="2700000" algn="bl" rotWithShape="0">
                <a:srgbClr val="000000">
                  <a:alpha val="16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pic>
          <p:nvPicPr>
            <p:cNvPr id="28" name="Image 2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059168" y="1591056"/>
              <a:ext cx="347472" cy="347472"/>
            </a:xfrm>
            <a:prstGeom prst="rect">
              <a:avLst/>
            </a:prstGeom>
          </p:spPr>
        </p:pic>
        <p:sp>
          <p:nvSpPr>
            <p:cNvPr id="29" name="Text 24"/>
            <p:cNvSpPr/>
            <p:nvPr/>
          </p:nvSpPr>
          <p:spPr>
            <a:xfrm>
              <a:off x="7498080" y="1527048"/>
              <a:ext cx="16459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FFFFF"/>
                  </a:solidFill>
                </a:rPr>
                <a:t> LIVE DEMO</a:t>
              </a:r>
              <a:endParaRPr lang="en-US" sz="1600" dirty="0"/>
            </a:p>
          </p:txBody>
        </p:sp>
        <p:sp>
          <p:nvSpPr>
            <p:cNvPr id="32" name="Text 27"/>
            <p:cNvSpPr/>
            <p:nvPr/>
          </p:nvSpPr>
          <p:spPr>
            <a:xfrm>
              <a:off x="7059168" y="2029968"/>
              <a:ext cx="42519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FFFFFF"/>
                  </a:solidFill>
                </a:rPr>
                <a:t>Show the journey</a:t>
              </a:r>
              <a:endParaRPr lang="en-US" sz="1800" dirty="0"/>
            </a:p>
          </p:txBody>
        </p:sp>
        <p:sp>
          <p:nvSpPr>
            <p:cNvPr id="33" name="Shape 28"/>
            <p:cNvSpPr/>
            <p:nvPr/>
          </p:nvSpPr>
          <p:spPr>
            <a:xfrm>
              <a:off x="7095744" y="2670048"/>
              <a:ext cx="256032" cy="256032"/>
            </a:xfrm>
            <a:prstGeom prst="ellipse">
              <a:avLst/>
            </a:prstGeom>
            <a:solidFill>
              <a:srgbClr val="E74B2B"/>
            </a:solidFill>
            <a:ln w="12700">
              <a:solidFill>
                <a:srgbClr val="E74B2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 29"/>
            <p:cNvSpPr/>
            <p:nvPr/>
          </p:nvSpPr>
          <p:spPr>
            <a:xfrm>
              <a:off x="7095744" y="2706624"/>
              <a:ext cx="256032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</a:rPr>
                <a:t>1</a:t>
              </a:r>
              <a:endParaRPr lang="en-US" sz="900" dirty="0"/>
            </a:p>
          </p:txBody>
        </p:sp>
        <p:sp>
          <p:nvSpPr>
            <p:cNvPr id="35" name="Text 30"/>
            <p:cNvSpPr/>
            <p:nvPr/>
          </p:nvSpPr>
          <p:spPr>
            <a:xfrm>
              <a:off x="7479792" y="2633472"/>
              <a:ext cx="37033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FFFFFF"/>
                  </a:solidFill>
                </a:rPr>
                <a:t>Start with the user’s situation</a:t>
              </a:r>
              <a:endParaRPr lang="en-US" sz="1300" dirty="0"/>
            </a:p>
          </p:txBody>
        </p:sp>
        <p:sp>
          <p:nvSpPr>
            <p:cNvPr id="36" name="Shape 31"/>
            <p:cNvSpPr/>
            <p:nvPr/>
          </p:nvSpPr>
          <p:spPr>
            <a:xfrm>
              <a:off x="7095744" y="3200400"/>
              <a:ext cx="256032" cy="256032"/>
            </a:xfrm>
            <a:prstGeom prst="ellipse">
              <a:avLst/>
            </a:prstGeom>
            <a:solidFill>
              <a:srgbClr val="E74B2B"/>
            </a:solidFill>
            <a:ln w="12700">
              <a:solidFill>
                <a:srgbClr val="E74B2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 32"/>
            <p:cNvSpPr/>
            <p:nvPr/>
          </p:nvSpPr>
          <p:spPr>
            <a:xfrm>
              <a:off x="7095744" y="3236976"/>
              <a:ext cx="256032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</a:rPr>
                <a:t>2</a:t>
              </a:r>
              <a:endParaRPr lang="en-US" sz="900" dirty="0"/>
            </a:p>
          </p:txBody>
        </p:sp>
        <p:sp>
          <p:nvSpPr>
            <p:cNvPr id="38" name="Text 33"/>
            <p:cNvSpPr/>
            <p:nvPr/>
          </p:nvSpPr>
          <p:spPr>
            <a:xfrm>
              <a:off x="7479792" y="3163824"/>
              <a:ext cx="37033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FFFFFF"/>
                  </a:solidFill>
                </a:rPr>
                <a:t>Complete the core task end-to-end</a:t>
              </a:r>
              <a:endParaRPr lang="en-US" sz="1300" dirty="0"/>
            </a:p>
          </p:txBody>
        </p:sp>
        <p:sp>
          <p:nvSpPr>
            <p:cNvPr id="39" name="Shape 34"/>
            <p:cNvSpPr/>
            <p:nvPr/>
          </p:nvSpPr>
          <p:spPr>
            <a:xfrm>
              <a:off x="7095744" y="3730752"/>
              <a:ext cx="256032" cy="256032"/>
            </a:xfrm>
            <a:prstGeom prst="ellipse">
              <a:avLst/>
            </a:prstGeom>
            <a:solidFill>
              <a:srgbClr val="E74B2B"/>
            </a:solidFill>
            <a:ln w="12700">
              <a:solidFill>
                <a:srgbClr val="E74B2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Text 35"/>
            <p:cNvSpPr/>
            <p:nvPr/>
          </p:nvSpPr>
          <p:spPr>
            <a:xfrm>
              <a:off x="7095744" y="3767328"/>
              <a:ext cx="256032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</a:rPr>
                <a:t>3</a:t>
              </a:r>
              <a:endParaRPr lang="en-US" sz="900" dirty="0"/>
            </a:p>
          </p:txBody>
        </p:sp>
        <p:sp>
          <p:nvSpPr>
            <p:cNvPr id="41" name="Text 36"/>
            <p:cNvSpPr/>
            <p:nvPr/>
          </p:nvSpPr>
          <p:spPr>
            <a:xfrm>
              <a:off x="7479792" y="3694176"/>
              <a:ext cx="37033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FFFFFF"/>
                  </a:solidFill>
                </a:rPr>
                <a:t>Show the NGO view / decision / outcome</a:t>
              </a:r>
              <a:endParaRPr lang="en-US" sz="1300" dirty="0"/>
            </a:p>
          </p:txBody>
        </p:sp>
        <p:sp>
          <p:nvSpPr>
            <p:cNvPr id="42" name="Shape 37"/>
            <p:cNvSpPr/>
            <p:nvPr/>
          </p:nvSpPr>
          <p:spPr>
            <a:xfrm>
              <a:off x="7095744" y="4261104"/>
              <a:ext cx="256032" cy="256032"/>
            </a:xfrm>
            <a:prstGeom prst="ellipse">
              <a:avLst/>
            </a:prstGeom>
            <a:solidFill>
              <a:srgbClr val="F79F24"/>
            </a:solidFill>
            <a:ln w="12700">
              <a:solidFill>
                <a:srgbClr val="F79F24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 38"/>
            <p:cNvSpPr/>
            <p:nvPr/>
          </p:nvSpPr>
          <p:spPr>
            <a:xfrm>
              <a:off x="7095744" y="4297680"/>
              <a:ext cx="256032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</a:rPr>
                <a:t>4</a:t>
              </a:r>
              <a:endParaRPr lang="en-US" sz="900" dirty="0"/>
            </a:p>
          </p:txBody>
        </p:sp>
        <p:sp>
          <p:nvSpPr>
            <p:cNvPr id="44" name="Text 39"/>
            <p:cNvSpPr/>
            <p:nvPr/>
          </p:nvSpPr>
          <p:spPr>
            <a:xfrm>
              <a:off x="7479792" y="4224528"/>
              <a:ext cx="37033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FFFFFF"/>
                  </a:solidFill>
                </a:rPr>
                <a:t>Close with one honest limitation</a:t>
              </a:r>
              <a:endParaRPr lang="en-US" sz="1300" dirty="0"/>
            </a:p>
          </p:txBody>
        </p:sp>
      </p:grp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658368"/>
            <a:ext cx="658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91919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proof slide</a:t>
            </a:r>
            <a:endParaRPr lang="en-US" sz="2800">
              <a:latin typeface="Aptos Display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15214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5B5B"/>
                </a:solidFill>
              </a:rPr>
              <a:t>Use for 30 seconds after the demo. Pick evidence over extra features.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8912" y="1536192"/>
            <a:ext cx="3657600" cy="446227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BD6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4088" y="181051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176479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91919"/>
                </a:solidFill>
              </a:rPr>
              <a:t>PROOF OF IMPACT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04088" y="21945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8A6B"/>
                </a:solidFill>
              </a:rPr>
              <a:t>Use metrics you can explain and reproduce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13232" y="2670048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74B2B"/>
                </a:solidFill>
              </a:rPr>
              <a:t>[XX sec]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2084832" y="276148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B5B5B"/>
                </a:solidFill>
              </a:rPr>
              <a:t>Core task </a:t>
            </a:r>
            <a:endParaRPr lang="en-US" sz="1200"/>
          </a:p>
        </p:txBody>
      </p:sp>
      <p:sp>
        <p:nvSpPr>
          <p:cNvPr id="12" name="Text 9"/>
          <p:cNvSpPr/>
          <p:nvPr/>
        </p:nvSpPr>
        <p:spPr>
          <a:xfrm>
            <a:off x="713232" y="338328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79F24"/>
                </a:solidFill>
              </a:rPr>
              <a:t>[XX%]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2084832" y="347472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5B5B"/>
                </a:solidFill>
              </a:rPr>
              <a:t>Test / success rate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13232" y="4096512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867B2"/>
                </a:solidFill>
              </a:rPr>
              <a:t>[XX users]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2084832" y="418795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5B5B"/>
                </a:solidFill>
              </a:rPr>
              <a:t>Prototype evidence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04088" y="5065776"/>
            <a:ext cx="2999232" cy="530352"/>
          </a:xfrm>
          <a:prstGeom prst="roundRect">
            <a:avLst>
              <a:gd name="adj" fmla="val 6897"/>
            </a:avLst>
          </a:prstGeom>
          <a:solidFill>
            <a:srgbClr val="F4F4F1"/>
          </a:solidFill>
          <a:ln w="12700">
            <a:solidFill>
              <a:srgbClr val="DFDF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841248" y="5193792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8A8A8A"/>
                </a:solidFill>
              </a:rPr>
              <a:t>[One sentence: why this improves the NGO’s current process.]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315968" y="1536192"/>
            <a:ext cx="3657600" cy="446227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BD6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81144" y="1810512"/>
            <a:ext cx="347472" cy="34747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992624" y="17647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91919"/>
                </a:solidFill>
              </a:rPr>
              <a:t>HOW IT WORKS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4581144" y="21945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867B2"/>
                </a:solidFill>
              </a:rPr>
              <a:t>Keep the architecture understandable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617720" y="2670048"/>
            <a:ext cx="2971800" cy="530352"/>
          </a:xfrm>
          <a:prstGeom prst="roundRect">
            <a:avLst>
              <a:gd name="adj" fmla="val 8621"/>
            </a:avLst>
          </a:prstGeom>
          <a:solidFill>
            <a:srgbClr val="F4F4F1"/>
          </a:solidFill>
          <a:ln w="12700">
            <a:solidFill>
              <a:srgbClr val="DADA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/>
          <p:nvPr/>
        </p:nvSpPr>
        <p:spPr>
          <a:xfrm>
            <a:off x="4754880" y="276148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5B5B"/>
                </a:solidFill>
              </a:rPr>
              <a:t>USER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5486400" y="276148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91919"/>
                </a:solidFill>
              </a:rPr>
              <a:t>[Web / Mobile]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 rot="5400000">
            <a:off x="5897880" y="3246120"/>
            <a:ext cx="411480" cy="182880"/>
          </a:xfrm>
          <a:prstGeom prst="chevron">
            <a:avLst/>
          </a:prstGeom>
          <a:solidFill>
            <a:srgbClr val="F79F24"/>
          </a:solidFill>
          <a:ln w="12700">
            <a:solidFill>
              <a:srgbClr val="F79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2"/>
          <p:cNvSpPr/>
          <p:nvPr/>
        </p:nvSpPr>
        <p:spPr>
          <a:xfrm>
            <a:off x="4617720" y="3493008"/>
            <a:ext cx="2971800" cy="530352"/>
          </a:xfrm>
          <a:prstGeom prst="roundRect">
            <a:avLst>
              <a:gd name="adj" fmla="val 8621"/>
            </a:avLst>
          </a:prstGeom>
          <a:solidFill>
            <a:srgbClr val="EEF4FB"/>
          </a:solidFill>
          <a:ln w="12700">
            <a:solidFill>
              <a:srgbClr val="2867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3"/>
          <p:cNvSpPr/>
          <p:nvPr/>
        </p:nvSpPr>
        <p:spPr>
          <a:xfrm>
            <a:off x="4754880" y="358444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867B2"/>
                </a:solidFill>
              </a:rPr>
              <a:t>CORE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5486400" y="358444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91919"/>
                </a:solidFill>
              </a:rPr>
              <a:t>[Your service / AI]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 rot="5400000">
            <a:off x="5897880" y="4069080"/>
            <a:ext cx="411480" cy="182880"/>
          </a:xfrm>
          <a:prstGeom prst="chevron">
            <a:avLst/>
          </a:prstGeom>
          <a:solidFill>
            <a:srgbClr val="F79F24"/>
          </a:solidFill>
          <a:ln w="12700">
            <a:solidFill>
              <a:srgbClr val="F79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6"/>
          <p:cNvSpPr/>
          <p:nvPr/>
        </p:nvSpPr>
        <p:spPr>
          <a:xfrm>
            <a:off x="4617720" y="4315968"/>
            <a:ext cx="2971800" cy="530352"/>
          </a:xfrm>
          <a:prstGeom prst="roundRect">
            <a:avLst>
              <a:gd name="adj" fmla="val 8621"/>
            </a:avLst>
          </a:prstGeom>
          <a:solidFill>
            <a:srgbClr val="F4F4F1"/>
          </a:solidFill>
          <a:ln w="12700">
            <a:solidFill>
              <a:srgbClr val="DADA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7"/>
          <p:cNvSpPr/>
          <p:nvPr/>
        </p:nvSpPr>
        <p:spPr>
          <a:xfrm>
            <a:off x="4754880" y="440740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5B5B"/>
                </a:solidFill>
              </a:rPr>
              <a:t>OUTCOME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5486400" y="440740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91919"/>
                </a:solidFill>
              </a:rPr>
              <a:t>[NGO dashboard / action]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4590288" y="52120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5B5B"/>
                </a:solidFill>
              </a:rPr>
              <a:t>AI / LIBRARIES / DATA USED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4590288" y="5413248"/>
            <a:ext cx="292608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000" i="1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[Disclose tools, datasets, APIs and what your team verified.]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8193024" y="1536192"/>
            <a:ext cx="3557016" cy="4462272"/>
          </a:xfrm>
          <a:prstGeom prst="roundRect">
            <a:avLst>
              <a:gd name="adj" fmla="val 2057"/>
            </a:avLst>
          </a:prstGeom>
          <a:solidFill>
            <a:srgbClr val="191919"/>
          </a:solidFill>
          <a:ln w="12700">
            <a:solidFill>
              <a:srgbClr val="191919"/>
            </a:solidFill>
            <a:prstDash val="solid"/>
          </a:ln>
          <a:effectLst>
            <a:outerShdw blurRad="16510" dist="762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Text 32"/>
          <p:cNvSpPr/>
          <p:nvPr/>
        </p:nvSpPr>
        <p:spPr>
          <a:xfrm>
            <a:off x="8458200" y="178308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HONEST CLOSE</a:t>
            </a:r>
            <a:endParaRPr lang="en-US" sz="1600" dirty="0"/>
          </a:p>
        </p:txBody>
      </p:sp>
      <p:sp>
        <p:nvSpPr>
          <p:cNvPr id="37" name="Text 33"/>
          <p:cNvSpPr/>
          <p:nvPr/>
        </p:nvSpPr>
        <p:spPr>
          <a:xfrm>
            <a:off x="8458200" y="233172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8A6B"/>
                </a:solidFill>
              </a:rPr>
              <a:t>What works today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8458200" y="2615184"/>
            <a:ext cx="2788920" cy="5120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00" i="1" dirty="0">
                <a:solidFill>
                  <a:srgbClr val="D8D8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[The live, tested path you just demonstrated.]</a:t>
            </a:r>
            <a:endParaRPr lang="en-US" sz="1400" dirty="0"/>
          </a:p>
        </p:txBody>
      </p:sp>
      <p:sp>
        <p:nvSpPr>
          <p:cNvPr id="39" name="Text 35"/>
          <p:cNvSpPr/>
          <p:nvPr/>
        </p:nvSpPr>
        <p:spPr>
          <a:xfrm>
            <a:off x="8458200" y="340156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9F24"/>
                </a:solidFill>
              </a:rPr>
              <a:t>Known limitation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8458200" y="3685032"/>
            <a:ext cx="2788920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00" i="1" dirty="0">
                <a:solidFill>
                  <a:srgbClr val="D8D8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[One real constraint. Do not represent demo-only flows as complete.]</a:t>
            </a:r>
            <a:endParaRPr lang="en-US" sz="1400" dirty="0"/>
          </a:p>
        </p:txBody>
      </p:sp>
      <p:sp>
        <p:nvSpPr>
          <p:cNvPr id="41" name="Text 37"/>
          <p:cNvSpPr/>
          <p:nvPr/>
        </p:nvSpPr>
        <p:spPr>
          <a:xfrm>
            <a:off x="8458200" y="455371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B2B"/>
                </a:solidFill>
              </a:rPr>
              <a:t>Next step</a:t>
            </a:r>
            <a:endParaRPr lang="en-US" sz="1100" dirty="0"/>
          </a:p>
        </p:txBody>
      </p:sp>
      <p:sp>
        <p:nvSpPr>
          <p:cNvPr id="42" name="Text 38"/>
          <p:cNvSpPr/>
          <p:nvPr/>
        </p:nvSpPr>
        <p:spPr>
          <a:xfrm>
            <a:off x="8458200" y="4828032"/>
            <a:ext cx="278892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00" i="1" dirty="0">
                <a:solidFill>
                  <a:srgbClr val="D8D8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[The first action needed to pilot with the NGO.]</a:t>
            </a:r>
            <a:endParaRPr lang="en-US" sz="14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df2f77bf-ac71-4d31-be38-cc6a5f811e56}" enabled="1" method="Standard" siteId="{f06fa858-824b-4a85-aacb-f372cfdc282e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354</Words>
  <Application>Microsoft Office PowerPoint</Application>
  <PresentationFormat>Widescreen</PresentationFormat>
  <Paragraphs>53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>Mastercard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for Change 3.0 | 5-Minute Final Pitch Template</dc:title>
  <dc:subject>Code for Change 3.0 student demo-first presentation template</dc:subject>
  <dc:creator>Ajinkya Chavan</dc:creator>
  <cp:lastModifiedBy>Archana Chauhan</cp:lastModifiedBy>
  <cp:revision>24</cp:revision>
  <dcterms:created xsi:type="dcterms:W3CDTF">2026-08-17T05:05:48Z</dcterms:created>
  <dcterms:modified xsi:type="dcterms:W3CDTF">2026-08-21T04:48:26Z</dcterms:modified>
</cp:coreProperties>
</file>